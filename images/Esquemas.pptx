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5E7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322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2146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240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7700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871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53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594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372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1010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474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6662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311FA7-6BA6-4A2F-9BAD-8242EC82DFB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123827-9619-48E0-8BE6-EF99310DC17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2595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2341418" y="1819563"/>
            <a:ext cx="17622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 smtClean="0"/>
              <a:t>Dados Saeb</a:t>
            </a:r>
            <a:endParaRPr lang="pt-BR" sz="1100" dirty="0"/>
          </a:p>
        </p:txBody>
      </p:sp>
      <p:sp>
        <p:nvSpPr>
          <p:cNvPr id="6" name="CaixaDeTexto 5"/>
          <p:cNvSpPr txBox="1"/>
          <p:nvPr/>
        </p:nvSpPr>
        <p:spPr>
          <a:xfrm>
            <a:off x="3557156" y="1819563"/>
            <a:ext cx="17622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 smtClean="0"/>
              <a:t>Dados socioeconômicos</a:t>
            </a:r>
            <a:endParaRPr lang="pt-BR" sz="1100" dirty="0"/>
          </a:p>
        </p:txBody>
      </p:sp>
      <p:sp>
        <p:nvSpPr>
          <p:cNvPr id="7" name="CaixaDeTexto 6"/>
          <p:cNvSpPr txBox="1"/>
          <p:nvPr/>
        </p:nvSpPr>
        <p:spPr>
          <a:xfrm>
            <a:off x="4937759" y="1819563"/>
            <a:ext cx="17622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 smtClean="0"/>
              <a:t>Atributos estados</a:t>
            </a:r>
            <a:endParaRPr lang="pt-BR" sz="1100" dirty="0"/>
          </a:p>
        </p:txBody>
      </p:sp>
      <p:sp>
        <p:nvSpPr>
          <p:cNvPr id="11" name="Retângulo 10"/>
          <p:cNvSpPr/>
          <p:nvPr/>
        </p:nvSpPr>
        <p:spPr>
          <a:xfrm>
            <a:off x="2341418" y="2747015"/>
            <a:ext cx="6096000" cy="95410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dados_socioeconomicos_estados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r</a:t>
            </a:r>
            <a:r>
              <a:rPr lang="pt-BR" sz="1400" dirty="0" err="1" smtClean="0"/>
              <a:t>esultados_saeb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a</a:t>
            </a:r>
            <a:r>
              <a:rPr lang="pt-BR" sz="1400" dirty="0" err="1" smtClean="0"/>
              <a:t>tributos_estados</a:t>
            </a:r>
            <a:endParaRPr lang="pt-BR" sz="1400" dirty="0" smtClean="0"/>
          </a:p>
          <a:p>
            <a:endParaRPr lang="pt-BR" sz="1400" dirty="0"/>
          </a:p>
        </p:txBody>
      </p:sp>
      <p:sp>
        <p:nvSpPr>
          <p:cNvPr id="12" name="Retângulo 11"/>
          <p:cNvSpPr/>
          <p:nvPr/>
        </p:nvSpPr>
        <p:spPr>
          <a:xfrm>
            <a:off x="2341418" y="4116381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/>
              <a:t>resultado_saeb</a:t>
            </a:r>
            <a:endParaRPr lang="pt-BR" sz="1400" dirty="0"/>
          </a:p>
        </p:txBody>
      </p:sp>
      <p:sp>
        <p:nvSpPr>
          <p:cNvPr id="13" name="Retângulo 12"/>
          <p:cNvSpPr/>
          <p:nvPr/>
        </p:nvSpPr>
        <p:spPr>
          <a:xfrm>
            <a:off x="2341418" y="5073786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resultado_saeb_por_estado_vs_idhm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err="1" smtClean="0"/>
              <a:t>resultado_saeb_por_nivel_socioeconômico</a:t>
            </a:r>
            <a:endParaRPr lang="pt-B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 smtClean="0"/>
              <a:t>resultado_saeb_por_tipo_de_escola</a:t>
            </a:r>
            <a:endParaRPr lang="pt-BR" dirty="0"/>
          </a:p>
        </p:txBody>
      </p:sp>
      <p:sp>
        <p:nvSpPr>
          <p:cNvPr id="15" name="Seta para baixo 14"/>
          <p:cNvSpPr/>
          <p:nvPr/>
        </p:nvSpPr>
        <p:spPr>
          <a:xfrm>
            <a:off x="3419301" y="3504810"/>
            <a:ext cx="454430" cy="425465"/>
          </a:xfrm>
          <a:prstGeom prst="downArrow">
            <a:avLst/>
          </a:prstGeom>
          <a:solidFill>
            <a:srgbClr val="45E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 para baixo 15"/>
          <p:cNvSpPr/>
          <p:nvPr/>
        </p:nvSpPr>
        <p:spPr>
          <a:xfrm>
            <a:off x="3419301" y="2293706"/>
            <a:ext cx="454430" cy="425465"/>
          </a:xfrm>
          <a:prstGeom prst="downArrow">
            <a:avLst/>
          </a:prstGeom>
          <a:solidFill>
            <a:srgbClr val="45E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Seta para baixo 16"/>
          <p:cNvSpPr/>
          <p:nvPr/>
        </p:nvSpPr>
        <p:spPr>
          <a:xfrm>
            <a:off x="3419299" y="4657526"/>
            <a:ext cx="454430" cy="425465"/>
          </a:xfrm>
          <a:prstGeom prst="downArrow">
            <a:avLst/>
          </a:prstGeom>
          <a:solidFill>
            <a:srgbClr val="45E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3938852" y="3513870"/>
            <a:ext cx="27612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smtClean="0"/>
              <a:t>Tratamento / Padronização </a:t>
            </a:r>
            <a:endParaRPr lang="pt-BR" dirty="0"/>
          </a:p>
        </p:txBody>
      </p:sp>
      <p:sp>
        <p:nvSpPr>
          <p:cNvPr id="19" name="Retângulo 18"/>
          <p:cNvSpPr/>
          <p:nvPr/>
        </p:nvSpPr>
        <p:spPr>
          <a:xfrm>
            <a:off x="3873729" y="4637402"/>
            <a:ext cx="35440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smtClean="0"/>
              <a:t>Integração / Criação de indicadores </a:t>
            </a:r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3873729" y="2293706"/>
            <a:ext cx="31754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/>
              <a:t>Download e criação de tabela</a:t>
            </a:r>
            <a:endParaRPr lang="pt-BR" dirty="0"/>
          </a:p>
        </p:txBody>
      </p:sp>
      <p:sp>
        <p:nvSpPr>
          <p:cNvPr id="21" name="Retângulo de cantos arredondados 20"/>
          <p:cNvSpPr/>
          <p:nvPr/>
        </p:nvSpPr>
        <p:spPr>
          <a:xfrm>
            <a:off x="428420" y="1630293"/>
            <a:ext cx="1737361" cy="5353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 smtClean="0">
                <a:solidFill>
                  <a:schemeClr val="tx1"/>
                </a:solidFill>
              </a:rPr>
              <a:t>Fonte de Dados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2" name="Retângulo de cantos arredondados 21"/>
          <p:cNvSpPr/>
          <p:nvPr/>
        </p:nvSpPr>
        <p:spPr>
          <a:xfrm>
            <a:off x="428421" y="2801056"/>
            <a:ext cx="1737360" cy="65099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smtClean="0">
                <a:solidFill>
                  <a:schemeClr val="tx1"/>
                </a:solidFill>
              </a:rPr>
              <a:t>Bronze</a:t>
            </a:r>
          </a:p>
        </p:txBody>
      </p:sp>
      <p:sp>
        <p:nvSpPr>
          <p:cNvPr id="23" name="Retângulo de cantos arredondados 22"/>
          <p:cNvSpPr/>
          <p:nvPr/>
        </p:nvSpPr>
        <p:spPr>
          <a:xfrm>
            <a:off x="428421" y="3958820"/>
            <a:ext cx="1737360" cy="62289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smtClean="0">
                <a:solidFill>
                  <a:schemeClr val="tx1"/>
                </a:solidFill>
              </a:rPr>
              <a:t>Silver</a:t>
            </a:r>
          </a:p>
        </p:txBody>
      </p:sp>
      <p:sp>
        <p:nvSpPr>
          <p:cNvPr id="24" name="Retângulo de cantos arredondados 23"/>
          <p:cNvSpPr/>
          <p:nvPr/>
        </p:nvSpPr>
        <p:spPr>
          <a:xfrm>
            <a:off x="428421" y="5110469"/>
            <a:ext cx="1737360" cy="62289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smtClean="0">
                <a:solidFill>
                  <a:schemeClr val="tx1"/>
                </a:solidFill>
              </a:rPr>
              <a:t>Gold</a:t>
            </a:r>
          </a:p>
        </p:txBody>
      </p:sp>
      <p:sp>
        <p:nvSpPr>
          <p:cNvPr id="25" name="Retângulo de cantos arredondados 24"/>
          <p:cNvSpPr/>
          <p:nvPr/>
        </p:nvSpPr>
        <p:spPr>
          <a:xfrm>
            <a:off x="2341418" y="1633591"/>
            <a:ext cx="4084320" cy="53532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 de cantos arredondados 25"/>
          <p:cNvSpPr/>
          <p:nvPr/>
        </p:nvSpPr>
        <p:spPr>
          <a:xfrm>
            <a:off x="2243367" y="2801055"/>
            <a:ext cx="4259957" cy="65099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 de cantos arredondados 26"/>
          <p:cNvSpPr/>
          <p:nvPr/>
        </p:nvSpPr>
        <p:spPr>
          <a:xfrm>
            <a:off x="2243366" y="3969812"/>
            <a:ext cx="4259957" cy="600539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 de cantos arredondados 27"/>
          <p:cNvSpPr/>
          <p:nvPr/>
        </p:nvSpPr>
        <p:spPr>
          <a:xfrm>
            <a:off x="2243366" y="5132067"/>
            <a:ext cx="4259957" cy="68038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5852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1150850" y="594975"/>
          <a:ext cx="235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120"/>
              </a:tblGrid>
              <a:tr h="222263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silver.resultados_saeb</a:t>
                      </a:r>
                      <a:endParaRPr lang="pt-BR" sz="1200" dirty="0"/>
                    </a:p>
                  </a:txBody>
                  <a:tcPr/>
                </a:tc>
              </a:tr>
              <a:tr h="222263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ESTADO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22263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ID_SAEB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22263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ID_MUNICIPIO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22263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ID_ESCOLA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22263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NIVEL_SOCIO_ECONOMICO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708696" y="2150840"/>
          <a:ext cx="235712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120"/>
              </a:tblGrid>
              <a:tr h="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bronze.atributos_estados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Estado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Região</a:t>
                      </a:r>
                      <a:endParaRPr lang="pt-BR" sz="12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/>
        </p:nvGraphicFramePr>
        <p:xfrm>
          <a:off x="7914638" y="594975"/>
          <a:ext cx="285034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0343"/>
              </a:tblGrid>
              <a:tr h="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Bronze.dados_socioeconomicos_estados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ANO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UFN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E_ANOSESTUDO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GINI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RDPC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8058726" y="4459007"/>
          <a:ext cx="332971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9710"/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pt-BR" sz="12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Gold. resultado_saeb_por_tipo_de_escola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escola_publica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quantidade_escolas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media_9EF_LP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media_9EF_MT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4459314" y="4459007"/>
          <a:ext cx="337958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9588"/>
              </a:tblGrid>
              <a:tr h="0">
                <a:tc>
                  <a:txBody>
                    <a:bodyPr/>
                    <a:lstStyle/>
                    <a:p>
                      <a:r>
                        <a:rPr lang="pt-BR" sz="12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Gold. resultado_saeb_por_nivel_socioeconomico</a:t>
                      </a:r>
                      <a:endParaRPr lang="pt-BR" sz="12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NIVEL_SOCIO_ECONOMICO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quantidade_escolas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PROFICIENCIA_9EF_LP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media_9EF_LP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Abaixo_do_Básico_LP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590203" y="4459007"/>
          <a:ext cx="3323243" cy="17012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3243"/>
              </a:tblGrid>
              <a:tr h="329613">
                <a:tc>
                  <a:txBody>
                    <a:bodyPr/>
                    <a:lstStyle/>
                    <a:p>
                      <a:r>
                        <a:rPr lang="pt-BR" sz="12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Gold.resultado_saeb_por_estado_vs_idhm</a:t>
                      </a:r>
                    </a:p>
                  </a:txBody>
                  <a:tcPr/>
                </a:tc>
              </a:tr>
              <a:tr h="186392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ESTADO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86392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MEDIA_9EF_LP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86392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MEDIA_9EF_MT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86392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MEDIA_SAEB_9EF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86392"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IDHM</a:t>
                      </a:r>
                      <a:endParaRPr lang="pt-BR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1" name="Conector angulado 10"/>
          <p:cNvCxnSpPr>
            <a:stCxn id="5" idx="1"/>
            <a:endCxn id="18" idx="3"/>
          </p:cNvCxnSpPr>
          <p:nvPr/>
        </p:nvCxnSpPr>
        <p:spPr>
          <a:xfrm rot="10800000">
            <a:off x="3507970" y="1022466"/>
            <a:ext cx="1200726" cy="15398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ângulo 17"/>
          <p:cNvSpPr/>
          <p:nvPr/>
        </p:nvSpPr>
        <p:spPr>
          <a:xfrm>
            <a:off x="3424844" y="931025"/>
            <a:ext cx="83126" cy="182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 19"/>
          <p:cNvSpPr/>
          <p:nvPr/>
        </p:nvSpPr>
        <p:spPr>
          <a:xfrm>
            <a:off x="3816927" y="4840778"/>
            <a:ext cx="83126" cy="182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/>
          <p:cNvSpPr/>
          <p:nvPr/>
        </p:nvSpPr>
        <p:spPr>
          <a:xfrm>
            <a:off x="7873075" y="1210116"/>
            <a:ext cx="83126" cy="182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3" name="Conector angulado 22"/>
          <p:cNvCxnSpPr>
            <a:stCxn id="5" idx="3"/>
            <a:endCxn id="21" idx="1"/>
          </p:cNvCxnSpPr>
          <p:nvPr/>
        </p:nvCxnSpPr>
        <p:spPr>
          <a:xfrm flipV="1">
            <a:off x="7065816" y="1301556"/>
            <a:ext cx="807259" cy="12607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angulado 26"/>
          <p:cNvCxnSpPr>
            <a:stCxn id="5" idx="1"/>
            <a:endCxn id="20" idx="3"/>
          </p:cNvCxnSpPr>
          <p:nvPr/>
        </p:nvCxnSpPr>
        <p:spPr>
          <a:xfrm rot="10800000" flipV="1">
            <a:off x="3900054" y="2562320"/>
            <a:ext cx="808643" cy="23698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7560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68</Words>
  <Application>Microsoft Office PowerPoint</Application>
  <PresentationFormat>Widescreen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</dc:creator>
  <cp:lastModifiedBy>Lucas</cp:lastModifiedBy>
  <cp:revision>5</cp:revision>
  <dcterms:created xsi:type="dcterms:W3CDTF">2026-09-22T01:13:47Z</dcterms:created>
  <dcterms:modified xsi:type="dcterms:W3CDTF">2026-09-24T00:44:36Z</dcterms:modified>
</cp:coreProperties>
</file>